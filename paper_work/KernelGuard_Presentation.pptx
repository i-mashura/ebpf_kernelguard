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8355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5486400" cy="5486400"/>
          </a:xfrm>
          <a:prstGeom prst="ellipse">
            <a:avLst/>
          </a:prstGeom>
          <a:solidFill>
            <a:srgbClr val="16233B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572000"/>
            <a:ext cx="4206240" cy="4206240"/>
          </a:xfrm>
          <a:prstGeom prst="ellipse">
            <a:avLst/>
          </a:prstGeom>
          <a:solidFill>
            <a:srgbClr val="16233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02920" y="26060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kern="0" spc="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KERNELGUARD</a:t>
            </a:r>
            <a:endParaRPr lang="en-US" sz="5400" dirty="0"/>
          </a:p>
        </p:txBody>
      </p:sp>
      <p:sp>
        <p:nvSpPr>
          <p:cNvPr id="8" name="Shape 5"/>
          <p:cNvSpPr/>
          <p:nvPr/>
        </p:nvSpPr>
        <p:spPr>
          <a:xfrm>
            <a:off x="548640" y="3520440"/>
            <a:ext cx="1280160" cy="0"/>
          </a:xfrm>
          <a:prstGeom prst="line">
            <a:avLst/>
          </a:prstGeom>
          <a:noFill/>
          <a:ln w="38100">
            <a:solidFill>
              <a:srgbClr val="2FC9C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02920" y="370332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BD8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Adaptive eBPF-Driven Behavioral Malware Detection Using Real-Time Kernel Telemetry and Graph Learning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6E88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KERNELGUARD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23157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8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2A7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Malware Has Outgrown Static Defenses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344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Modern attacks execute in memory, encrypt data in seconds, and mutate their own code — defeating byte-pattern matching before an analyst ever sees a file.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3429000" cy="3017520"/>
          </a:xfrm>
          <a:prstGeom prst="roundRect">
            <a:avLst>
              <a:gd name="adj" fmla="val 2424"/>
            </a:avLst>
          </a:prstGeom>
          <a:solidFill>
            <a:srgbClr val="F2F6F8"/>
          </a:solidFill>
          <a:ln/>
        </p:spPr>
      </p:sp>
      <p:sp>
        <p:nvSpPr>
          <p:cNvPr id="6" name="Shape 4"/>
          <p:cNvSpPr/>
          <p:nvPr/>
        </p:nvSpPr>
        <p:spPr>
          <a:xfrm>
            <a:off x="1737360" y="2263140"/>
            <a:ext cx="960120" cy="960120"/>
          </a:xfrm>
          <a:prstGeom prst="ellipse">
            <a:avLst/>
          </a:prstGeom>
          <a:solidFill>
            <a:srgbClr val="0F1B2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33832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Fileless Malware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7307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2A7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Runs in-memory only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406908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Runs entirely within a process's address space — no binary ever touches disk for a scanner to catch.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51960" y="2057400"/>
            <a:ext cx="3429000" cy="3017520"/>
          </a:xfrm>
          <a:prstGeom prst="roundRect">
            <a:avLst>
              <a:gd name="adj" fmla="val 2424"/>
            </a:avLst>
          </a:prstGeom>
          <a:solidFill>
            <a:srgbClr val="F2F6F8"/>
          </a:solidFill>
          <a:ln/>
        </p:spPr>
      </p:sp>
      <p:sp>
        <p:nvSpPr>
          <p:cNvPr id="12" name="Shape 9"/>
          <p:cNvSpPr/>
          <p:nvPr/>
        </p:nvSpPr>
        <p:spPr>
          <a:xfrm>
            <a:off x="5486400" y="2263140"/>
            <a:ext cx="960120" cy="960120"/>
          </a:xfrm>
          <a:prstGeom prst="ellipse">
            <a:avLst/>
          </a:prstGeom>
          <a:solidFill>
            <a:srgbClr val="0F1B2E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4480560" y="33832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Ransomware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480560" y="37307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2A7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Seconds to encrypt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4526280" y="406908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Encrypts user data within seconds of execution, leaving no window for signature-based response.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001000" y="2057400"/>
            <a:ext cx="3429000" cy="3017520"/>
          </a:xfrm>
          <a:prstGeom prst="roundRect">
            <a:avLst>
              <a:gd name="adj" fmla="val 2424"/>
            </a:avLst>
          </a:prstGeom>
          <a:solidFill>
            <a:srgbClr val="F2F6F8"/>
          </a:solidFill>
          <a:ln/>
        </p:spPr>
      </p:sp>
      <p:sp>
        <p:nvSpPr>
          <p:cNvPr id="18" name="Shape 14"/>
          <p:cNvSpPr/>
          <p:nvPr/>
        </p:nvSpPr>
        <p:spPr>
          <a:xfrm>
            <a:off x="9235440" y="2263140"/>
            <a:ext cx="960120" cy="960120"/>
          </a:xfrm>
          <a:prstGeom prst="ellipse">
            <a:avLst/>
          </a:prstGeom>
          <a:solidFill>
            <a:srgbClr val="0F1B2E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8229600" y="33832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Polymorphic Malware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8229600" y="37307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2A7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Rewrites its own code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8275320" y="406908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Regenerates its code structure on every infection, defeating hash- and byte-pattern detectors.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502920" y="534924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0F1B2E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868680" y="5349240"/>
            <a:ext cx="10451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Signature-based and static analysis pipelines are structurally unable to keep pace with this rate of mutation.</a:t>
            </a:r>
            <a:endParaRPr lang="en-US" sz="1350" dirty="0"/>
          </a:p>
        </p:txBody>
      </p:sp>
      <p:sp>
        <p:nvSpPr>
          <p:cNvPr id="25" name="Text 20"/>
          <p:cNvSpPr txBox="1"/>
          <p:nvPr/>
        </p:nvSpPr>
        <p:spPr>
          <a:xfrm>
            <a:off x="50292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9AA9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KERNELGUARD</a:t>
            </a:r>
            <a:endParaRPr lang="en-US" sz="900" dirty="0"/>
          </a:p>
        </p:txBody>
      </p:sp>
      <p:sp>
        <p:nvSpPr>
          <p:cNvPr id="26" name="Text 21"/>
          <p:cNvSpPr txBox="1"/>
          <p:nvPr/>
        </p:nvSpPr>
        <p:spPr>
          <a:xfrm>
            <a:off x="1123157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9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9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8525656-89CE-201B-F88A-0067268F07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908" y="2363788"/>
            <a:ext cx="713104" cy="71310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3ABAA53-1D1E-89DA-74E4-1A3E00786B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0332" y="2391762"/>
            <a:ext cx="735486" cy="73548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80D9FDD1-60D2-6784-64DE-57075A9E3F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2590" y="2313432"/>
            <a:ext cx="845820" cy="8458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2A7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RELATED WORK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Runtime Monitoring Trades Off Observability vs. Overhead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2F6F8"/>
          </a:solidFill>
          <a:ln/>
        </p:spPr>
      </p:sp>
      <p:sp>
        <p:nvSpPr>
          <p:cNvPr id="5" name="Shape 3"/>
          <p:cNvSpPr/>
          <p:nvPr/>
        </p:nvSpPr>
        <p:spPr>
          <a:xfrm>
            <a:off x="845820" y="2148840"/>
            <a:ext cx="868680" cy="868680"/>
          </a:xfrm>
          <a:prstGeom prst="ellipse">
            <a:avLst/>
          </a:prstGeom>
          <a:solidFill>
            <a:srgbClr val="0F1B2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920240" y="17830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Kernel-Module Sensors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920240" y="213055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A7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overhead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920240" y="2441448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 system-call interposition gives rich telemetry, but requires intrusive kernel patches and introduces non-trivial latency.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2F6F8"/>
          </a:solidFill>
          <a:ln/>
        </p:spPr>
      </p:sp>
      <p:sp>
        <p:nvSpPr>
          <p:cNvPr id="11" name="Shape 8"/>
          <p:cNvSpPr/>
          <p:nvPr/>
        </p:nvSpPr>
        <p:spPr>
          <a:xfrm>
            <a:off x="6652260" y="2148840"/>
            <a:ext cx="868680" cy="868680"/>
          </a:xfrm>
          <a:prstGeom prst="ellipse">
            <a:avLst/>
          </a:prstGeom>
          <a:solidFill>
            <a:srgbClr val="0F1B2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726680" y="17830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User-Space Hooking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726680" y="213055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A7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Blind spots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7726680" y="2441448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Lightweight to deploy, but blind to any activity that bypasses instrumented libraries or invokes syscalls directly.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02920" y="3977640"/>
            <a:ext cx="11183112" cy="2103120"/>
          </a:xfrm>
          <a:prstGeom prst="roundRect">
            <a:avLst>
              <a:gd name="adj" fmla="val 3478"/>
            </a:avLst>
          </a:prstGeom>
          <a:solidFill>
            <a:srgbClr val="0F1B2E"/>
          </a:solidFill>
          <a:ln/>
        </p:spPr>
      </p:sp>
      <p:sp>
        <p:nvSpPr>
          <p:cNvPr id="17" name="Shape 13"/>
          <p:cNvSpPr/>
          <p:nvPr/>
        </p:nvSpPr>
        <p:spPr>
          <a:xfrm>
            <a:off x="1120140" y="4549140"/>
            <a:ext cx="960120" cy="960120"/>
          </a:xfrm>
          <a:prstGeom prst="ellipse">
            <a:avLst/>
          </a:prstGeom>
          <a:solidFill>
            <a:srgbClr val="1E3352"/>
          </a:solidFill>
          <a:ln/>
        </p:spPr>
      </p:sp>
      <p:pic>
        <p:nvPicPr>
          <p:cNvPr id="18" name="Image 2" descr="/home/claude/work/extracted/ppt/media/image-3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0569" y="4779569"/>
            <a:ext cx="499262" cy="49926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2331720" y="4251960"/>
            <a:ext cx="9052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eBPF tools (Falco, Tracee, Sysdig) prove the middle ground works — sandboxed, verifiable kernel programs with minimal per-event overhead. But most still rely on shallow rule-based or statistical scoring over individual events, not the deeper relational structure among system entities.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50292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9AA9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KERNELGUARD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1123157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9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9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A0EA224-CE3E-7F0A-682E-660EAC60EB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876" y="2321179"/>
            <a:ext cx="524001" cy="52400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06A5FC7-64A3-938B-1486-BCA324B5E1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4971" y="2206709"/>
            <a:ext cx="703257" cy="7032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2A7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Introducing KernelGuard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344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adaptive malware detection framework combining low-overhead eBPF kernel telemetry with hybrid graph-temporal representation learning.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3429000" cy="3520440"/>
          </a:xfrm>
          <a:prstGeom prst="roundRect">
            <a:avLst>
              <a:gd name="adj" fmla="val 2133"/>
            </a:avLst>
          </a:prstGeom>
          <a:solidFill>
            <a:srgbClr val="F2F6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2860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7E2E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834640" y="2194560"/>
            <a:ext cx="822960" cy="822960"/>
          </a:xfrm>
          <a:prstGeom prst="ellipse">
            <a:avLst/>
          </a:prstGeom>
          <a:solidFill>
            <a:srgbClr val="0F1B2E"/>
          </a:solidFill>
          <a:ln/>
        </p:spPr>
      </p:sp>
      <p:pic>
        <p:nvPicPr>
          <p:cNvPr id="8" name="Image 0" descr="/home/claude/work/extracted/ppt/media/image-4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2150" y="2392070"/>
            <a:ext cx="427939" cy="42793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30632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Unified Kernel Telemetry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84048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Continuous, low-overhead collection via kprobes, tracepoints, LSM hooks, and XDP/TC — zero kernel modification, zero application instrumentation.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51960" y="2057400"/>
            <a:ext cx="3429000" cy="3520440"/>
          </a:xfrm>
          <a:prstGeom prst="roundRect">
            <a:avLst>
              <a:gd name="adj" fmla="val 2133"/>
            </a:avLst>
          </a:prstGeom>
          <a:solidFill>
            <a:srgbClr val="F2F6F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26280" y="22860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7E2E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>
            <a:off x="6583680" y="2194560"/>
            <a:ext cx="822960" cy="822960"/>
          </a:xfrm>
          <a:prstGeom prst="ellipse">
            <a:avLst/>
          </a:prstGeom>
          <a:solidFill>
            <a:srgbClr val="0F1B2E"/>
          </a:solidFill>
          <a:ln/>
        </p:spPr>
      </p:sp>
      <p:pic>
        <p:nvPicPr>
          <p:cNvPr id="14" name="Image 1" descr="/home/claude/work/extracted/ppt/media/image-4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1190" y="2392070"/>
            <a:ext cx="427939" cy="427939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26280" y="30632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Hybrid GNN + Temporal Transformer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4526280" y="384048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Sliding-window behavioral graphs jointly encoded to learn structural entity relationships and their evolution over time.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001000" y="2057400"/>
            <a:ext cx="3429000" cy="3520440"/>
          </a:xfrm>
          <a:prstGeom prst="roundRect">
            <a:avLst>
              <a:gd name="adj" fmla="val 2133"/>
            </a:avLst>
          </a:prstGeom>
          <a:solidFill>
            <a:srgbClr val="F2F6F8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8275320" y="22860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7E2E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3000" dirty="0"/>
          </a:p>
        </p:txBody>
      </p:sp>
      <p:sp>
        <p:nvSpPr>
          <p:cNvPr id="19" name="Shape 15"/>
          <p:cNvSpPr/>
          <p:nvPr/>
        </p:nvSpPr>
        <p:spPr>
          <a:xfrm>
            <a:off x="10332720" y="2194560"/>
            <a:ext cx="822960" cy="822960"/>
          </a:xfrm>
          <a:prstGeom prst="ellipse">
            <a:avLst/>
          </a:prstGeom>
          <a:solidFill>
            <a:srgbClr val="0F1B2E"/>
          </a:solidFill>
          <a:ln/>
        </p:spPr>
      </p:sp>
      <p:pic>
        <p:nvPicPr>
          <p:cNvPr id="20" name="Image 2" descr="/home/claude/work/extracted/ppt/media/image-4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0230" y="2392070"/>
            <a:ext cx="427939" cy="427939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275320" y="30632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Adaptive, Interpretable Risk Scoring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8275320" y="384048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Reasons over syscall semantics and process lineage; explains every alert and recalibrates from analyst feedback.</a:t>
            </a:r>
            <a:endParaRPr lang="en-US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50292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9AA9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KERNELGUARD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1123157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9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2A7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0700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Reproduced from the project README — five stages, kernel telemetry to autonomous response.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04942" y="1636776"/>
            <a:ext cx="11510889" cy="2286000"/>
          </a:xfrm>
          <a:prstGeom prst="roundRect">
            <a:avLst>
              <a:gd name="adj" fmla="val 3404"/>
            </a:avLst>
          </a:prstGeom>
          <a:solidFill>
            <a:srgbClr val="F2F6F8"/>
          </a:solidFill>
          <a:ln/>
        </p:spPr>
      </p:sp>
      <p:pic>
        <p:nvPicPr>
          <p:cNvPr id="6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5478" y="1664208"/>
            <a:ext cx="11470354" cy="225856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39776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Kernel Telemetry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2651760" y="39776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Ingestion &amp; Dispatch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4503420" y="399592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Behavioral Graph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949440" y="39776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GNN + Transformer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9540240" y="396849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Risk &amp; Response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91540" y="4823460"/>
            <a:ext cx="777240" cy="777240"/>
          </a:xfrm>
          <a:prstGeom prst="ellipse">
            <a:avLst/>
          </a:prstGeom>
          <a:solidFill>
            <a:srgbClr val="0F1B2E"/>
          </a:solidFill>
          <a:ln/>
        </p:spPr>
      </p:sp>
      <p:pic>
        <p:nvPicPr>
          <p:cNvPr id="13" name="Image 1" descr="/home/claude/work/extracted/ppt/media/image-5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078" y="5009998"/>
            <a:ext cx="404165" cy="40416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828800" y="48463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2A7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48,200 ev/s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1828800" y="52395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Ring-buffer throughput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594860" y="4823460"/>
            <a:ext cx="777240" cy="777240"/>
          </a:xfrm>
          <a:prstGeom prst="ellipse">
            <a:avLst/>
          </a:prstGeom>
          <a:solidFill>
            <a:srgbClr val="0F1B2E"/>
          </a:solidFill>
          <a:ln/>
        </p:spPr>
      </p:sp>
      <p:pic>
        <p:nvPicPr>
          <p:cNvPr id="17" name="Image 2" descr="/home/claude/work/extracted/ppt/media/image-5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1398" y="5009998"/>
            <a:ext cx="404165" cy="40416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532120" y="48463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2A7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&lt; 1.15%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5532120" y="52395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Kernel CPU overhead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8298180" y="4823460"/>
            <a:ext cx="777240" cy="777240"/>
          </a:xfrm>
          <a:prstGeom prst="ellipse">
            <a:avLst/>
          </a:prstGeom>
          <a:solidFill>
            <a:srgbClr val="0F1B2E"/>
          </a:solidFill>
          <a:ln/>
        </p:spPr>
      </p:sp>
      <p:pic>
        <p:nvPicPr>
          <p:cNvPr id="21" name="Image 3" descr="/home/claude/work/extracted/ppt/media/image-5-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4718" y="5009998"/>
            <a:ext cx="404165" cy="40416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235440" y="48463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2A7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&lt; 0.45 ms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9235440" y="52395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Autonomous mitigation latency</a:t>
            </a:r>
            <a:endParaRPr lang="en-US" sz="1050" dirty="0"/>
          </a:p>
        </p:txBody>
      </p:sp>
      <p:sp>
        <p:nvSpPr>
          <p:cNvPr id="24" name="Text 18"/>
          <p:cNvSpPr txBox="1"/>
          <p:nvPr/>
        </p:nvSpPr>
        <p:spPr>
          <a:xfrm>
            <a:off x="502920" y="58064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Figures as labeled in the README's own architecture diagram, above. Full stage-by-stage walkthrough on the next slide →</a:t>
            </a:r>
            <a:endParaRPr lang="en-US" sz="1050" dirty="0"/>
          </a:p>
        </p:txBody>
      </p:sp>
      <p:sp>
        <p:nvSpPr>
          <p:cNvPr id="25" name="Text 19"/>
          <p:cNvSpPr txBox="1"/>
          <p:nvPr/>
        </p:nvSpPr>
        <p:spPr>
          <a:xfrm>
            <a:off x="50292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9AA9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KERNELGUARD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1123157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9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2A7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Architecture Explained, Stage by Stage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30936" y="1513332"/>
            <a:ext cx="566928" cy="566928"/>
          </a:xfrm>
          <a:prstGeom prst="ellipse">
            <a:avLst/>
          </a:prstGeom>
          <a:solidFill>
            <a:srgbClr val="0F1B2E"/>
          </a:solidFill>
          <a:ln/>
        </p:spPr>
      </p:sp>
      <p:pic>
        <p:nvPicPr>
          <p:cNvPr id="5" name="Image 0" descr="/home/claude/work/extracted/ppt/media/image-6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99" y="1649395"/>
            <a:ext cx="294803" cy="2948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32588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· Kernel Telemetry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618488"/>
            <a:ext cx="10149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Lineage probes (execve, fork, setuid), memory-invariant probes (memfd_create, mprotect) and I/O/socket probes (openat, unlinkat, connect) run in-kernel via eBPF and stream into a 256 KB zero-copy ring buffer built for multi-core throughput.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417320" y="2221992"/>
            <a:ext cx="10149840" cy="0"/>
          </a:xfrm>
          <a:prstGeom prst="line">
            <a:avLst/>
          </a:prstGeom>
          <a:noFill/>
          <a:ln w="9525">
            <a:solidFill>
              <a:srgbClr val="DCE4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0936" y="2455164"/>
            <a:ext cx="566928" cy="566928"/>
          </a:xfrm>
          <a:prstGeom prst="ellipse">
            <a:avLst/>
          </a:prstGeom>
          <a:solidFill>
            <a:srgbClr val="0F1B2E"/>
          </a:solidFill>
          <a:ln/>
        </p:spPr>
      </p:sp>
      <p:pic>
        <p:nvPicPr>
          <p:cNvPr id="10" name="Image 1" descr="/home/claude/work/extracted/ppt/media/image-6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999" y="2591227"/>
            <a:ext cx="294803" cy="29480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17320" y="226771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· Ingestion &amp; Dispatch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1417320" y="2560320"/>
            <a:ext cx="10149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unified dispatcher merges the kernel ring-buffer stream with a live host-OS sniffer and replayed DARPA Transparent Computing datasets, de-duplicating events into one microsecond-ordered timeline.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1417320" y="3163824"/>
            <a:ext cx="10149840" cy="0"/>
          </a:xfrm>
          <a:prstGeom prst="line">
            <a:avLst/>
          </a:prstGeom>
          <a:noFill/>
          <a:ln w="9525">
            <a:solidFill>
              <a:srgbClr val="DCE4E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30936" y="3396996"/>
            <a:ext cx="566928" cy="566928"/>
          </a:xfrm>
          <a:prstGeom prst="ellipse">
            <a:avLst/>
          </a:prstGeom>
          <a:solidFill>
            <a:srgbClr val="0F1B2E"/>
          </a:solidFill>
          <a:ln/>
        </p:spPr>
      </p:sp>
      <p:pic>
        <p:nvPicPr>
          <p:cNvPr id="15" name="Image 2" descr="/home/claude/work/extracted/ppt/media/image-6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999" y="3533059"/>
            <a:ext cx="294803" cy="29480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17320" y="3209544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· Behavioral Graph &amp; Provenance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1417320" y="3502152"/>
            <a:ext cx="10149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Events assemble into a dynamic temporal multi-graph of processes, files, sockets and memory. Causal provenance slicing traces backward to the root cause or forward to the full blast radius of any flagged node.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1417320" y="4105656"/>
            <a:ext cx="10149840" cy="0"/>
          </a:xfrm>
          <a:prstGeom prst="line">
            <a:avLst/>
          </a:prstGeom>
          <a:noFill/>
          <a:ln w="9525">
            <a:solidFill>
              <a:srgbClr val="DCE4EA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30936" y="4338828"/>
            <a:ext cx="566928" cy="566928"/>
          </a:xfrm>
          <a:prstGeom prst="ellipse">
            <a:avLst/>
          </a:prstGeom>
          <a:solidFill>
            <a:srgbClr val="0F1B2E"/>
          </a:solidFill>
          <a:ln/>
        </p:spPr>
      </p:sp>
      <p:pic>
        <p:nvPicPr>
          <p:cNvPr id="20" name="Image 3" descr="/home/claude/work/extracted/ppt/media/image-6-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999" y="4474891"/>
            <a:ext cx="294803" cy="29480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17320" y="4151376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· Hybrid GNN-Transformer &amp; Explainability</a:t>
            </a:r>
            <a:endParaRPr lang="en-US" sz="1250" dirty="0"/>
          </a:p>
        </p:txBody>
      </p:sp>
      <p:sp>
        <p:nvSpPr>
          <p:cNvPr id="22" name="Text 16"/>
          <p:cNvSpPr txBox="1"/>
          <p:nvPr/>
        </p:nvSpPr>
        <p:spPr>
          <a:xfrm>
            <a:off x="1417320" y="4443984"/>
            <a:ext cx="10149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Relational Graph Attention Network models spatial relationships between entities while a Temporal Transformer captures event order; max-mean pooling preserves sharp threat signals, and GNNExplainer renders an edge-saliency heatmap for every decision.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1417320" y="5047488"/>
            <a:ext cx="10149840" cy="0"/>
          </a:xfrm>
          <a:prstGeom prst="line">
            <a:avLst/>
          </a:prstGeom>
          <a:noFill/>
          <a:ln w="9525">
            <a:solidFill>
              <a:srgbClr val="DCE4EA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30936" y="5280660"/>
            <a:ext cx="566928" cy="566928"/>
          </a:xfrm>
          <a:prstGeom prst="ellipse">
            <a:avLst/>
          </a:prstGeom>
          <a:solidFill>
            <a:srgbClr val="0F1B2E"/>
          </a:solidFill>
          <a:ln/>
        </p:spPr>
      </p:sp>
      <p:pic>
        <p:nvPicPr>
          <p:cNvPr id="25" name="Image 4" descr="/home/claude/work/extracted/ppt/media/image-6-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6999" y="5416723"/>
            <a:ext cx="294803" cy="29480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417320" y="509320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· Adaptive Risk Scoring &amp; Response</a:t>
            </a:r>
            <a:endParaRPr lang="en-US" sz="1250" dirty="0"/>
          </a:p>
        </p:txBody>
      </p:sp>
      <p:sp>
        <p:nvSpPr>
          <p:cNvPr id="27" name="Text 20"/>
          <p:cNvSpPr txBox="1"/>
          <p:nvPr/>
        </p:nvSpPr>
        <p:spPr>
          <a:xfrm>
            <a:off x="1417320" y="5385816"/>
            <a:ext cx="10149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composite risk score blends model confidence with syscall-semantic and process-lineage signals, maps to MITRE ATT&amp;CK techniques, and can trigger autonomous mitigation — process termination, IP blocks, volume freezes — surfaced live on the SOC dashboard.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502920" y="63093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Diagram &amp; pipeline: github.com/i-mAshura/eBPF_KernelGuard (README)</a:t>
            </a:r>
            <a:endParaRPr lang="en-US" sz="950" dirty="0"/>
          </a:p>
        </p:txBody>
      </p:sp>
      <p:sp>
        <p:nvSpPr>
          <p:cNvPr id="29" name="Text 22"/>
          <p:cNvSpPr txBox="1"/>
          <p:nvPr/>
        </p:nvSpPr>
        <p:spPr>
          <a:xfrm>
            <a:off x="50292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9AA9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KERNELGUARD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1123157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9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2A7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Four eBPF Hook Families, One Telemetry Layer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2F6F8"/>
          </a:solidFill>
          <a:ln/>
        </p:spPr>
      </p:sp>
      <p:sp>
        <p:nvSpPr>
          <p:cNvPr id="5" name="Shape 3"/>
          <p:cNvSpPr/>
          <p:nvPr/>
        </p:nvSpPr>
        <p:spPr>
          <a:xfrm>
            <a:off x="845820" y="1874520"/>
            <a:ext cx="777240" cy="777240"/>
          </a:xfrm>
          <a:prstGeom prst="ellipse">
            <a:avLst/>
          </a:prstGeom>
          <a:solidFill>
            <a:srgbClr val="0F1B2E"/>
          </a:solidFill>
          <a:ln/>
        </p:spPr>
      </p:sp>
      <p:pic>
        <p:nvPicPr>
          <p:cNvPr id="6" name="Image 0" descr="/home/claude/work/extracted/ppt/media/image-7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358" y="2061058"/>
            <a:ext cx="404165" cy="4041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167335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kprobes / kretprobes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2011680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Instrument process- and memory-management functions: creation, termination, memory mapping, page-permission changes.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309360" y="141732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2F6F8"/>
          </a:solidFill>
          <a:ln/>
        </p:spPr>
      </p:sp>
      <p:sp>
        <p:nvSpPr>
          <p:cNvPr id="10" name="Shape 7"/>
          <p:cNvSpPr/>
          <p:nvPr/>
        </p:nvSpPr>
        <p:spPr>
          <a:xfrm>
            <a:off x="6652260" y="1874520"/>
            <a:ext cx="777240" cy="777240"/>
          </a:xfrm>
          <a:prstGeom prst="ellipse">
            <a:avLst/>
          </a:prstGeom>
          <a:solidFill>
            <a:srgbClr val="0F1B2E"/>
          </a:solidFill>
          <a:ln/>
        </p:spPr>
      </p:sp>
      <p:pic>
        <p:nvPicPr>
          <p:cNvPr id="11" name="Image 1" descr="/home/claude/work/extracted/ppt/media/image-7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8798" y="206105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589520" y="167335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Tracepoints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589520" y="2011680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Capture system-call entry/exit and scheduler context-switch events with stable kernel ABI guarantees.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2920" y="342900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2F6F8"/>
          </a:solidFill>
          <a:ln/>
        </p:spPr>
      </p:sp>
      <p:sp>
        <p:nvSpPr>
          <p:cNvPr id="15" name="Shape 11"/>
          <p:cNvSpPr/>
          <p:nvPr/>
        </p:nvSpPr>
        <p:spPr>
          <a:xfrm>
            <a:off x="845820" y="3886200"/>
            <a:ext cx="777240" cy="777240"/>
          </a:xfrm>
          <a:prstGeom prst="ellipse">
            <a:avLst/>
          </a:prstGeom>
          <a:solidFill>
            <a:srgbClr val="0F1B2E"/>
          </a:solidFill>
          <a:ln/>
        </p:spPr>
      </p:sp>
      <p:pic>
        <p:nvPicPr>
          <p:cNvPr id="16" name="Image 2" descr="/home/claude/work/extracted/ppt/media/image-7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358" y="407273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83080" y="368503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LSM Hooks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783080" y="4023360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Intercept privilege transitions, capability checks and file-access decisions at the exact point policy is enforced.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309360" y="342900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2F6F8"/>
          </a:solidFill>
          <a:ln/>
        </p:spPr>
      </p:sp>
      <p:sp>
        <p:nvSpPr>
          <p:cNvPr id="20" name="Shape 15"/>
          <p:cNvSpPr/>
          <p:nvPr/>
        </p:nvSpPr>
        <p:spPr>
          <a:xfrm>
            <a:off x="6652260" y="3886200"/>
            <a:ext cx="777240" cy="777240"/>
          </a:xfrm>
          <a:prstGeom prst="ellipse">
            <a:avLst/>
          </a:prstGeom>
          <a:solidFill>
            <a:srgbClr val="0F1B2E"/>
          </a:solidFill>
          <a:ln/>
        </p:spPr>
      </p:sp>
      <p:pic>
        <p:nvPicPr>
          <p:cNvPr id="21" name="Image 3" descr="/home/claude/work/extracted/ppt/media/image-7-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8798" y="4072738"/>
            <a:ext cx="404165" cy="40416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589520" y="368503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XDP / TC Hooks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7589520" y="4023360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Capture network packet metadata at the earliest point in the receive/transmit path.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02920" y="5257800"/>
            <a:ext cx="11183112" cy="868680"/>
          </a:xfrm>
          <a:prstGeom prst="roundRect">
            <a:avLst>
              <a:gd name="adj" fmla="val 8421"/>
            </a:avLst>
          </a:prstGeom>
          <a:solidFill>
            <a:srgbClr val="0F1B2E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868680" y="5257800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four probe families write structured records into a shared per-CPU ring buffer — the high-throughput channel to user space.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50292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9AA9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KERNELGUARD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1123157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9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2A7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End-to-End Detection Pipeline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0700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Seven stages, kernel telemetry to interpretable alert — with a closed adaptive-feedback loop.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11183112" cy="3657600"/>
          </a:xfrm>
          <a:prstGeom prst="roundRect">
            <a:avLst>
              <a:gd name="adj" fmla="val 2000"/>
            </a:avLst>
          </a:prstGeom>
          <a:solidFill>
            <a:srgbClr val="F2F6F8"/>
          </a:solidFill>
          <a:ln/>
        </p:spPr>
      </p:sp>
      <p:pic>
        <p:nvPicPr>
          <p:cNvPr id="6" name="Image 0" descr="/home/claude/work/extracted/ppt/media/image-8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4030" y="1920240"/>
            <a:ext cx="8380892" cy="32461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553212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Analyst-confirmed labels continuously update the graph constructor and scoring thresholds.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9AA9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KERNELGUARD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23157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9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2A7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Hybrid Graph Neural Network + Temporal Transformer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349240" cy="3246120"/>
          </a:xfrm>
          <a:prstGeom prst="roundRect">
            <a:avLst>
              <a:gd name="adj" fmla="val 2254"/>
            </a:avLst>
          </a:prstGeom>
          <a:solidFill>
            <a:srgbClr val="F2F6F8"/>
          </a:solidFill>
          <a:ln/>
        </p:spPr>
      </p:sp>
      <p:sp>
        <p:nvSpPr>
          <p:cNvPr id="5" name="Shape 3"/>
          <p:cNvSpPr/>
          <p:nvPr/>
        </p:nvSpPr>
        <p:spPr>
          <a:xfrm>
            <a:off x="845820" y="1577340"/>
            <a:ext cx="777240" cy="777240"/>
          </a:xfrm>
          <a:prstGeom prst="ellipse">
            <a:avLst/>
          </a:prstGeom>
          <a:solidFill>
            <a:srgbClr val="0F1B2E"/>
          </a:solidFill>
          <a:ln/>
        </p:spPr>
      </p:sp>
      <p:pic>
        <p:nvPicPr>
          <p:cNvPr id="6" name="Image 0" descr="/home/claude/work/extracted/ppt/media/image-9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358" y="1763878"/>
            <a:ext cx="404165" cy="4041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4231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Structural Embedding (per snapshot)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971800"/>
            <a:ext cx="4709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multi-layer Graph Attention Network aggregates each entity's neighborhood — processes, files, sockets, memory regions — into a learned embedding, weighting neighbors by attention rather than uniformly.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09360" y="1371600"/>
            <a:ext cx="5349240" cy="3246120"/>
          </a:xfrm>
          <a:prstGeom prst="roundRect">
            <a:avLst>
              <a:gd name="adj" fmla="val 2254"/>
            </a:avLst>
          </a:prstGeom>
          <a:solidFill>
            <a:srgbClr val="F2F6F8"/>
          </a:solidFill>
          <a:ln/>
        </p:spPr>
      </p:sp>
      <p:sp>
        <p:nvSpPr>
          <p:cNvPr id="10" name="Shape 7"/>
          <p:cNvSpPr/>
          <p:nvPr/>
        </p:nvSpPr>
        <p:spPr>
          <a:xfrm>
            <a:off x="6652260" y="1577340"/>
            <a:ext cx="777240" cy="777240"/>
          </a:xfrm>
          <a:prstGeom prst="ellipse">
            <a:avLst/>
          </a:prstGeom>
          <a:solidFill>
            <a:srgbClr val="0F1B2E"/>
          </a:solidFill>
          <a:ln/>
        </p:spPr>
      </p:sp>
      <p:pic>
        <p:nvPicPr>
          <p:cNvPr id="11" name="Image 1" descr="/home/claude/work/extracted/ppt/media/image-9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8798" y="176387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629400" y="24231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Temporal Encoding (across snapshots)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6629400" y="2971800"/>
            <a:ext cx="4709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attention-weighted readout compresses each window into a single graph-level vector zₜ. The full snapshot sequence z₁…zₜ passes through a Transformer applying multi-head self-attention, capturing long-range dependencies a single snapshot cannot see. A feed-forward head outputs a benign/malicious decision and malware-family estimate, trained end-to-end with weighted cross-entropy.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02920" y="4846320"/>
            <a:ext cx="11183112" cy="1234440"/>
          </a:xfrm>
          <a:prstGeom prst="roundRect">
            <a:avLst>
              <a:gd name="adj" fmla="val 5926"/>
            </a:avLst>
          </a:prstGeom>
          <a:solidFill>
            <a:srgbClr val="0F1B2E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68680" y="4846320"/>
            <a:ext cx="104515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Ablation result:  removing either component costs accuracy — structural and temporal modeling are complementary, not redundant.</a:t>
            </a:r>
            <a:endParaRPr lang="en-US" sz="1350" dirty="0"/>
          </a:p>
        </p:txBody>
      </p:sp>
      <p:sp>
        <p:nvSpPr>
          <p:cNvPr id="16" name="Text 12"/>
          <p:cNvSpPr txBox="1"/>
          <p:nvPr/>
        </p:nvSpPr>
        <p:spPr>
          <a:xfrm>
            <a:off x="50292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9AA9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KERNELGUARD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1123157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9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2A7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Adaptive Risk Scoring &amp; Explainability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1051560"/>
          </a:xfrm>
          <a:prstGeom prst="roundRect">
            <a:avLst>
              <a:gd name="adj" fmla="val 6957"/>
            </a:avLst>
          </a:prstGeom>
          <a:solidFill>
            <a:srgbClr val="0F1B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417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FC9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Rₜ  =  β₁·P(malicious | zₜ)   +   β₂·Syscall-Semantic Score   +   β₃·Process-Lineage Score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745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B9C6D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Calibration weights β₁, β₂, β₃ initialize from validation-set optimization and adapt online from analyst feedback.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697480"/>
            <a:ext cx="3429000" cy="2880360"/>
          </a:xfrm>
          <a:prstGeom prst="roundRect">
            <a:avLst>
              <a:gd name="adj" fmla="val 2540"/>
            </a:avLst>
          </a:prstGeom>
          <a:solidFill>
            <a:srgbClr val="F2F6F8"/>
          </a:solidFill>
          <a:ln/>
        </p:spPr>
      </p:sp>
      <p:sp>
        <p:nvSpPr>
          <p:cNvPr id="8" name="Shape 6"/>
          <p:cNvSpPr/>
          <p:nvPr/>
        </p:nvSpPr>
        <p:spPr>
          <a:xfrm>
            <a:off x="1760220" y="2926080"/>
            <a:ext cx="914400" cy="914400"/>
          </a:xfrm>
          <a:prstGeom prst="ellipse">
            <a:avLst/>
          </a:prstGeom>
          <a:solidFill>
            <a:srgbClr val="0F1B2E"/>
          </a:solidFill>
          <a:ln/>
        </p:spPr>
      </p:sp>
      <p:pic>
        <p:nvPicPr>
          <p:cNvPr id="9" name="Image 0" descr="/home/claude/work/extracted/ppt/media/image-10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676" y="3145536"/>
            <a:ext cx="475488" cy="47548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31520" y="39776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F1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Syscall Semantics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38912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Deviation from a per-process-image argument-distribution baseline flags anomalous behavior.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251960" y="2697480"/>
            <a:ext cx="3429000" cy="2880360"/>
          </a:xfrm>
          <a:prstGeom prst="roundRect">
            <a:avLst>
              <a:gd name="adj" fmla="val 2540"/>
            </a:avLst>
          </a:prstGeom>
          <a:solidFill>
            <a:srgbClr val="F2F6F8"/>
          </a:solidFill>
          <a:ln/>
        </p:spPr>
      </p:sp>
      <p:sp>
        <p:nvSpPr>
          <p:cNvPr id="13" name="Shape 10"/>
          <p:cNvSpPr/>
          <p:nvPr/>
        </p:nvSpPr>
        <p:spPr>
          <a:xfrm>
            <a:off x="5509260" y="2926080"/>
            <a:ext cx="914400" cy="914400"/>
          </a:xfrm>
          <a:prstGeom prst="ellipse">
            <a:avLst/>
          </a:prstGeom>
          <a:solidFill>
            <a:srgbClr val="0F1B2E"/>
          </a:solidFill>
          <a:ln/>
        </p:spPr>
      </p:sp>
      <p:pic>
        <p:nvPicPr>
          <p:cNvPr id="14" name="Image 1" descr="/home/claude/work/extracted/ppt/media/image-10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8716" y="3145536"/>
            <a:ext cx="475488" cy="47548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480560" y="39776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F1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 Lineage</a:t>
            </a:r>
            <a:endParaRPr lang="en-US" sz="1450" dirty="0"/>
          </a:p>
        </p:txBody>
      </p:sp>
      <p:sp>
        <p:nvSpPr>
          <p:cNvPr id="16" name="Text 12"/>
          <p:cNvSpPr txBox="1"/>
          <p:nvPr/>
        </p:nvSpPr>
        <p:spPr>
          <a:xfrm>
            <a:off x="4572000" y="438912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Anomalous ancestor–descendant relationships surface privilege abuse and living-off-the-land activity.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001000" y="2697480"/>
            <a:ext cx="3429000" cy="2880360"/>
          </a:xfrm>
          <a:prstGeom prst="roundRect">
            <a:avLst>
              <a:gd name="adj" fmla="val 2540"/>
            </a:avLst>
          </a:prstGeom>
          <a:solidFill>
            <a:srgbClr val="F2F6F8"/>
          </a:solidFill>
          <a:ln/>
        </p:spPr>
      </p:sp>
      <p:sp>
        <p:nvSpPr>
          <p:cNvPr id="18" name="Shape 14"/>
          <p:cNvSpPr/>
          <p:nvPr/>
        </p:nvSpPr>
        <p:spPr>
          <a:xfrm>
            <a:off x="9258300" y="2926080"/>
            <a:ext cx="914400" cy="914400"/>
          </a:xfrm>
          <a:prstGeom prst="ellipse">
            <a:avLst/>
          </a:prstGeom>
          <a:solidFill>
            <a:srgbClr val="0F1B2E"/>
          </a:solidFill>
          <a:ln/>
        </p:spPr>
      </p:sp>
      <p:pic>
        <p:nvPicPr>
          <p:cNvPr id="19" name="Image 2" descr="/home/claude/work/extracted/ppt/media/image-10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7756" y="3145536"/>
            <a:ext cx="475488" cy="47548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229600" y="39776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F1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Explainability</a:t>
            </a:r>
            <a:endParaRPr lang="en-US" sz="1450" dirty="0"/>
          </a:p>
        </p:txBody>
      </p:sp>
      <p:sp>
        <p:nvSpPr>
          <p:cNvPr id="21" name="Text 16"/>
          <p:cNvSpPr txBox="1"/>
          <p:nvPr/>
        </p:nvSpPr>
        <p:spPr>
          <a:xfrm>
            <a:off x="8321040" y="438912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Attention weights and subgraph attribution show the analyst exactly which nodes and edges drove the score.</a:t>
            </a:r>
            <a:endParaRPr lang="en-US" sz="1150" dirty="0"/>
          </a:p>
        </p:txBody>
      </p:sp>
      <p:sp>
        <p:nvSpPr>
          <p:cNvPr id="22" name="Text 17"/>
          <p:cNvSpPr txBox="1"/>
          <p:nvPr/>
        </p:nvSpPr>
        <p:spPr>
          <a:xfrm>
            <a:off x="50292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9AA9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KERNELGUARD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1123157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9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2A7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Experimental Setup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349240" cy="4709160"/>
          </a:xfrm>
          <a:prstGeom prst="roundRect">
            <a:avLst>
              <a:gd name="adj" fmla="val 1553"/>
            </a:avLst>
          </a:prstGeom>
          <a:solidFill>
            <a:srgbClr val="F2F6F8"/>
          </a:solidFill>
          <a:ln/>
        </p:spPr>
      </p:sp>
      <p:sp>
        <p:nvSpPr>
          <p:cNvPr id="5" name="Shape 3"/>
          <p:cNvSpPr/>
          <p:nvPr/>
        </p:nvSpPr>
        <p:spPr>
          <a:xfrm>
            <a:off x="800100" y="1577340"/>
            <a:ext cx="685800" cy="685800"/>
          </a:xfrm>
          <a:prstGeom prst="ellipse">
            <a:avLst/>
          </a:prstGeom>
          <a:solidFill>
            <a:srgbClr val="0F1B2E"/>
          </a:solidFill>
          <a:ln/>
        </p:spPr>
      </p:sp>
      <p:pic>
        <p:nvPicPr>
          <p:cNvPr id="6" name="Image 0" descr="/home/claude/work/extracted/ppt/media/image-11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" y="174193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62763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23160"/>
            <a:ext cx="4709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Linux kernel 6.5 with eBPF/BTF, bare-metal and virtualized hosts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Labeled benign workloads: developer, office-productivity, server-admin tasks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Six malicious categories, vendor-consensus labeled: Ransomware · Fileless · Polymorphic · Rootkits · Trojans · Cryptominers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Temporal train/val/test split — no leakage between sessions of the same binary family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split is held out, zero-day style: no training-time family variant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09360" y="1371600"/>
            <a:ext cx="5349240" cy="4709160"/>
          </a:xfrm>
          <a:prstGeom prst="roundRect">
            <a:avLst>
              <a:gd name="adj" fmla="val 1553"/>
            </a:avLst>
          </a:prstGeom>
          <a:solidFill>
            <a:srgbClr val="F2F6F8"/>
          </a:solidFill>
          <a:ln/>
        </p:spPr>
      </p:sp>
      <p:sp>
        <p:nvSpPr>
          <p:cNvPr id="10" name="Shape 7"/>
          <p:cNvSpPr/>
          <p:nvPr/>
        </p:nvSpPr>
        <p:spPr>
          <a:xfrm>
            <a:off x="6606540" y="1577340"/>
            <a:ext cx="685800" cy="685800"/>
          </a:xfrm>
          <a:prstGeom prst="ellipse">
            <a:avLst/>
          </a:prstGeom>
          <a:solidFill>
            <a:srgbClr val="0F1B2E"/>
          </a:solidFill>
          <a:ln/>
        </p:spPr>
      </p:sp>
      <p:pic>
        <p:nvPicPr>
          <p:cNvPr id="11" name="Image 1" descr="/home/claude/work/extracted/ppt/media/image-11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1132" y="174193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06640" y="162763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Baselines Compared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629400" y="251460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F1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Operational systems:</a:t>
            </a:r>
            <a:r>
              <a:rPr lang="en-US" sz="1150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Falco &amp; Tracee (rule-based eBPF), Sysdig (statistical), Auditd + ML, ClamAV (signature)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6629400" y="333756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F1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Architecture ablations:</a:t>
            </a:r>
            <a:r>
              <a:rPr lang="en-US" sz="1150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GNN-only (no Transformer), LSTM syscall-sequence model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6629400" y="416052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F1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 baseline:</a:t>
            </a:r>
            <a:r>
              <a:rPr lang="en-US" sz="1150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Random Forest on handcrafted statistical features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6629400" y="498348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F1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Overhead reference:</a:t>
            </a:r>
            <a:r>
              <a:rPr lang="en-US" sz="1150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LiME + Volatility offline memory forensics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50292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9AA9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KERNELGUARD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3157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9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2A7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Overall Detection Performance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0700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Highest accuracy, precision, recall, F1 and AUC-ROC among all compared systems.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2F6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84708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A7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97.4%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3134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Accuracy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83464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2F6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" y="29443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A7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96.9%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34107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F1-Score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93192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2F6F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2920" y="40416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A7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0.978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45079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AUC-ROC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63240" y="1737360"/>
          <a:ext cx="4160520" cy="3931921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Method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Acc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F1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AUC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2A79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KernelGuard (Ours)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2A79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97.4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2A79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96.9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2A79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0.978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F1B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GNN-only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F1B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94.5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F1B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93.4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F1B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0.941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F1B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LSTM Sequence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F1B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91.6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F1B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90.0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F1B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0.912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F1B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Auditd + ML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F1B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90.3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F1B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88.7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F1B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0.897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F1B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Random Forest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F1B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87.9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F1B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85.8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F1B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0.874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F1B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ClamAV (Signature)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F1B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71.2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F1B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66.9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F1B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0.712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7452360" y="1737360"/>
            <a:ext cx="4251960" cy="3246120"/>
          </a:xfrm>
          <a:prstGeom prst="roundRect">
            <a:avLst>
              <a:gd name="adj" fmla="val 2254"/>
            </a:avLst>
          </a:prstGeom>
          <a:solidFill>
            <a:srgbClr val="F2F6F8"/>
          </a:solidFill>
          <a:ln/>
        </p:spPr>
      </p:sp>
      <p:pic>
        <p:nvPicPr>
          <p:cNvPr id="16" name="Image 0" descr="/home/claude/work/extracted/ppt/media/image-12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828800"/>
            <a:ext cx="3886200" cy="2872409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3063240" y="5806440"/>
            <a:ext cx="8641080" cy="685800"/>
          </a:xfrm>
          <a:prstGeom prst="roundRect">
            <a:avLst>
              <a:gd name="adj" fmla="val 10667"/>
            </a:avLst>
          </a:prstGeom>
          <a:solidFill>
            <a:srgbClr val="0F1B2E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3337560" y="5806440"/>
            <a:ext cx="8092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+6.0 pts accuracy over the strongest operational baseline (Auditd + ML). GNN-only ablation trails by 2.9 pts, LSTM-only by 5.8 pts — both components matter.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50292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9AA9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KERNELGUARD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1123157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9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2A7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Behavioral Modeling Wins Where Static Signals Fail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0700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Per-category F1-score across six malware families.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11183112" cy="3246120"/>
          </a:xfrm>
          <a:prstGeom prst="roundRect">
            <a:avLst>
              <a:gd name="adj" fmla="val 2254"/>
            </a:avLst>
          </a:prstGeom>
          <a:solidFill>
            <a:srgbClr val="F2F6F8"/>
          </a:solidFill>
          <a:ln/>
        </p:spPr>
      </p:sp>
      <p:pic>
        <p:nvPicPr>
          <p:cNvPr id="6" name="Image 0" descr="/home/claude/work/extracted/ppt/media/image-13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1351" y="1828800"/>
            <a:ext cx="6026250" cy="29718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5349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2A7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+19.6 pts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573328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Polymorphic malware F1 gain over Random Forest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480560" y="5349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2A7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+17.2 pts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4480560" y="573328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Fileless malware F1 gain over Random Forest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5349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2A7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+11.3 pts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8183880" y="573328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Rootkit F1 gain — the hardest category to separate from legit admin activity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9AA9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KERNELGUARD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23157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9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2A7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Accuracy Without the Overhead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0700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Runtime CPU overhead vs. detection accuracy — KernelGuard occupies the most favorable region.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6035040" cy="4434840"/>
          </a:xfrm>
          <a:prstGeom prst="roundRect">
            <a:avLst>
              <a:gd name="adj" fmla="val 1649"/>
            </a:avLst>
          </a:prstGeom>
          <a:solidFill>
            <a:srgbClr val="F2F6F8"/>
          </a:solidFill>
          <a:ln/>
        </p:spPr>
      </p:sp>
      <p:pic>
        <p:nvPicPr>
          <p:cNvPr id="6" name="Image 0" descr="/home/claude/work/extracted/ppt/media/image-14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28800"/>
            <a:ext cx="5486400" cy="405516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26580" y="1897380"/>
            <a:ext cx="777240" cy="777240"/>
          </a:xfrm>
          <a:prstGeom prst="ellipse">
            <a:avLst/>
          </a:prstGeom>
          <a:solidFill>
            <a:srgbClr val="0F1B2E"/>
          </a:solidFill>
          <a:ln/>
        </p:spPr>
      </p:sp>
      <p:pic>
        <p:nvPicPr>
          <p:cNvPr id="8" name="Image 1" descr="/home/claude/work/extracted/ppt/media/image-14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3118" y="2083918"/>
            <a:ext cx="404165" cy="40416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818120" y="18288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A7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3.1%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7818120" y="22860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 CPU overhead — lower than every learned baseline except ClamAV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926580" y="3268980"/>
            <a:ext cx="777240" cy="777240"/>
          </a:xfrm>
          <a:prstGeom prst="ellipse">
            <a:avLst/>
          </a:prstGeom>
          <a:solidFill>
            <a:srgbClr val="0F1B2E"/>
          </a:solidFill>
          <a:ln/>
        </p:spPr>
      </p:sp>
      <p:pic>
        <p:nvPicPr>
          <p:cNvPr id="12" name="Image 2" descr="/home/claude/work/extracted/ppt/media/image-14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3118" y="3455518"/>
            <a:ext cx="404165" cy="40416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818120" y="3200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A7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8.4 ms</a:t>
            </a:r>
            <a:endParaRPr lang="en-US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7818120" y="36576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Inference latency per sliding window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6926580" y="4640580"/>
            <a:ext cx="777240" cy="777240"/>
          </a:xfrm>
          <a:prstGeom prst="ellipse">
            <a:avLst/>
          </a:prstGeom>
          <a:solidFill>
            <a:srgbClr val="0F1B2E"/>
          </a:solidFill>
          <a:ln/>
        </p:spPr>
      </p:sp>
      <p:pic>
        <p:nvPicPr>
          <p:cNvPr id="16" name="Image 3" descr="/home/claude/work/extracted/ppt/media/image-14-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3118" y="4827118"/>
            <a:ext cx="404165" cy="40416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818120" y="45720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A7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6×</a:t>
            </a:r>
            <a:endParaRPr lang="en-US" sz="2200" dirty="0"/>
          </a:p>
        </p:txBody>
      </p:sp>
      <p:sp>
        <p:nvSpPr>
          <p:cNvPr id="18" name="Text 12"/>
          <p:cNvSpPr txBox="1"/>
          <p:nvPr/>
        </p:nvSpPr>
        <p:spPr>
          <a:xfrm>
            <a:off x="7818120" y="50292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Lower overhead than the offline LiME + Volatility forensics pipeline, at higher accuracy</a:t>
            </a:r>
            <a:endParaRPr lang="en-US" sz="1050" dirty="0"/>
          </a:p>
        </p:txBody>
      </p:sp>
      <p:sp>
        <p:nvSpPr>
          <p:cNvPr id="19" name="Text 13"/>
          <p:cNvSpPr txBox="1"/>
          <p:nvPr/>
        </p:nvSpPr>
        <p:spPr>
          <a:xfrm>
            <a:off x="50292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9AA9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KERNELGUARD</a:t>
            </a:r>
            <a:endParaRPr lang="en-US" sz="900" dirty="0"/>
          </a:p>
        </p:txBody>
      </p:sp>
      <p:sp>
        <p:nvSpPr>
          <p:cNvPr id="20" name="Text 14"/>
          <p:cNvSpPr txBox="1"/>
          <p:nvPr/>
        </p:nvSpPr>
        <p:spPr>
          <a:xfrm>
            <a:off x="1123157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9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2A7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Training Convergence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0700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Training/validation loss and validation F1-score across 50 epochs.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6035040" cy="4434840"/>
          </a:xfrm>
          <a:prstGeom prst="roundRect">
            <a:avLst>
              <a:gd name="adj" fmla="val 1649"/>
            </a:avLst>
          </a:prstGeom>
          <a:solidFill>
            <a:srgbClr val="F2F6F8"/>
          </a:solidFill>
          <a:ln/>
        </p:spPr>
      </p:sp>
      <p:pic>
        <p:nvPicPr>
          <p:cNvPr id="6" name="Image 0" descr="/home/claude/work/extracted/ppt/media/image-15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28800"/>
            <a:ext cx="5486400" cy="405516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26580" y="2217420"/>
            <a:ext cx="777240" cy="777240"/>
          </a:xfrm>
          <a:prstGeom prst="ellipse">
            <a:avLst/>
          </a:prstGeom>
          <a:solidFill>
            <a:srgbClr val="0F1B2E"/>
          </a:solidFill>
          <a:ln/>
        </p:spPr>
      </p:sp>
      <p:pic>
        <p:nvPicPr>
          <p:cNvPr id="8" name="Image 1" descr="/home/claude/work/extracted/ppt/media/image-15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3118" y="2403958"/>
            <a:ext cx="404165" cy="40416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818120" y="2148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1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Limited overfitting</a:t>
            </a:r>
            <a:endParaRPr lang="en-US" sz="1650" dirty="0"/>
          </a:p>
        </p:txBody>
      </p:sp>
      <p:sp>
        <p:nvSpPr>
          <p:cNvPr id="10" name="Text 6"/>
          <p:cNvSpPr txBox="1"/>
          <p:nvPr/>
        </p:nvSpPr>
        <p:spPr>
          <a:xfrm>
            <a:off x="7818120" y="2587752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Validation loss tracks closely behind training loss under the weighted cross-entropy objective.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926580" y="3909060"/>
            <a:ext cx="777240" cy="777240"/>
          </a:xfrm>
          <a:prstGeom prst="ellipse">
            <a:avLst/>
          </a:prstGeom>
          <a:solidFill>
            <a:srgbClr val="0F1B2E"/>
          </a:solidFill>
          <a:ln/>
        </p:spPr>
      </p:sp>
      <p:pic>
        <p:nvPicPr>
          <p:cNvPr id="12" name="Image 2" descr="/home/claude/work/extracted/ppt/media/image-15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3118" y="4095598"/>
            <a:ext cx="404165" cy="40416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818120" y="38404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1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Early stopping at ~epoch 30</a:t>
            </a:r>
            <a:endParaRPr lang="en-US" sz="1650" dirty="0"/>
          </a:p>
        </p:txBody>
      </p:sp>
      <p:sp>
        <p:nvSpPr>
          <p:cNvPr id="14" name="Text 9"/>
          <p:cNvSpPr txBox="1"/>
          <p:nvPr/>
        </p:nvSpPr>
        <p:spPr>
          <a:xfrm>
            <a:off x="7818120" y="4279392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Validation F1-score stabilizes after roughly 30 epochs — the point used for all reported results.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50292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9AA9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KERNELGUARD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1123157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9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2A7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&amp; Future 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349240" cy="4709160"/>
          </a:xfrm>
          <a:prstGeom prst="roundRect">
            <a:avLst>
              <a:gd name="adj" fmla="val 1553"/>
            </a:avLst>
          </a:prstGeom>
          <a:solidFill>
            <a:srgbClr val="F2F6F8"/>
          </a:solidFill>
          <a:ln/>
        </p:spPr>
      </p:sp>
      <p:sp>
        <p:nvSpPr>
          <p:cNvPr id="5" name="Shape 3"/>
          <p:cNvSpPr/>
          <p:nvPr/>
        </p:nvSpPr>
        <p:spPr>
          <a:xfrm>
            <a:off x="800100" y="1577340"/>
            <a:ext cx="685800" cy="685800"/>
          </a:xfrm>
          <a:prstGeom prst="ellipse">
            <a:avLst/>
          </a:prstGeom>
          <a:solidFill>
            <a:srgbClr val="0F1B2E"/>
          </a:solidFill>
          <a:ln/>
        </p:spPr>
      </p:sp>
      <p:pic>
        <p:nvPicPr>
          <p:cNvPr id="6" name="Image 0" descr="/home/claude/work/extracted/ppt/media/image-16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" y="174193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62763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KernelGuard Delivers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23160"/>
            <a:ext cx="4709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150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Kernel-level telemetry via eBPF, with zero kernel modification or application instrumentation</a:t>
            </a:r>
            <a:endParaRPr lang="en-US" sz="11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150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Temporal behavioral graphs jointly modeled by a hybrid GNN + Temporal Transformer</a:t>
            </a:r>
            <a:endParaRPr lang="en-US" sz="11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150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Adaptive, feedback-driven risk scoring with subgraph-level explainability for SOC analysts</a:t>
            </a:r>
            <a:endParaRPr lang="en-US" sz="11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150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Highest accuracy, precision, recall, F1 and AUC-ROC among all compared systems — at overhead competitive with the lightest rule-based monitors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09360" y="1371600"/>
            <a:ext cx="5349240" cy="4709160"/>
          </a:xfrm>
          <a:prstGeom prst="roundRect">
            <a:avLst>
              <a:gd name="adj" fmla="val 1553"/>
            </a:avLst>
          </a:prstGeom>
          <a:solidFill>
            <a:srgbClr val="F2F6F8"/>
          </a:solidFill>
          <a:ln/>
        </p:spPr>
      </p:sp>
      <p:sp>
        <p:nvSpPr>
          <p:cNvPr id="10" name="Shape 7"/>
          <p:cNvSpPr/>
          <p:nvPr/>
        </p:nvSpPr>
        <p:spPr>
          <a:xfrm>
            <a:off x="6606540" y="1577340"/>
            <a:ext cx="685800" cy="685800"/>
          </a:xfrm>
          <a:prstGeom prst="ellipse">
            <a:avLst/>
          </a:prstGeom>
          <a:solidFill>
            <a:srgbClr val="0F1B2E"/>
          </a:solidFill>
          <a:ln/>
        </p:spPr>
      </p:sp>
      <p:pic>
        <p:nvPicPr>
          <p:cNvPr id="11" name="Image 1" descr="/home/claude/work/extracted/ppt/media/image-16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1132" y="174193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06640" y="162763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Work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6629400" y="2423160"/>
            <a:ext cx="4709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150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Longitudinal production deployment to measure the adaptive feedback loop's effect on false-positive reduction over time</a:t>
            </a:r>
            <a:endParaRPr lang="en-US" sz="11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150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Cross-host graph correlation to detect lateral-movement campaigns invisible to single-host telemetry</a:t>
            </a:r>
            <a:endParaRPr lang="en-US" sz="11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150" dirty="0">
                <a:solidFill>
                  <a:srgbClr val="5B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Lightweight integrity-measurement signals to improve rootkit detection against privilege abuse that mimics legitimate administration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50292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9AA9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KERNELGUARD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1123157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9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5486400" cy="5486400"/>
          </a:xfrm>
          <a:prstGeom prst="ellipse">
            <a:avLst/>
          </a:prstGeom>
          <a:solidFill>
            <a:srgbClr val="16233B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572000"/>
            <a:ext cx="4206240" cy="4206240"/>
          </a:xfrm>
          <a:prstGeom prst="ellipse">
            <a:avLst/>
          </a:prstGeom>
          <a:solidFill>
            <a:srgbClr val="16233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0" y="288036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6E88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KERNELGUARD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23157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8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1548</Words>
  <Application>Microsoft Office PowerPoint</Application>
  <PresentationFormat>Widescreen</PresentationFormat>
  <Paragraphs>235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Sai Abhiram Kolluru</cp:lastModifiedBy>
  <cp:revision>4</cp:revision>
  <dcterms:created xsi:type="dcterms:W3CDTF">2026-09-25T06:46:08Z</dcterms:created>
  <dcterms:modified xsi:type="dcterms:W3CDTF">2026-09-25T07:21:55Z</dcterms:modified>
</cp:coreProperties>
</file>